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r:id="rId16-created" id="256"/>
    <p:sldId r:id="rId17-created" id="257"/>
    <p:sldId r:id="rId18-created" id="258"/>
    <p:sldId r:id="rId19-created" id="259"/>
    <p:sldId r:id="rId20-created" id="260"/>
    <p:sldId r:id="rId21-created" id="261"/>
    <p:sldId r:id="rId22-created" id="262"/>
    <p:sldId r:id="rId23-created" id="263"/>
    <p:sldId r:id="rId24-created" id="264"/>
    <p:sldId r:id="rId25-created" id="265"/>
  </p:sldIdLst>
  <p:sldSz cx="12192000" cy="6858000"/>
  <p:notesSz cx="6858000" cy="9144000"/>
  <p:defaultTextStyle>
    <a:defPPr>
      <a:defRPr lang="en-US"/>
    </a:defPPr>
    <a:lvl1pPr algn="l" defTabSz="609585" eaLnBrk="1" hangingPunct="1" latinLnBrk="0" marL="0" rtl="0">
      <a:defRPr kern="1200" sz="2400">
        <a:solidFill>
          <a:schemeClr val="tx1"/>
        </a:solidFill>
        <a:latin typeface="+mn-lt"/>
        <a:ea typeface="+mn-ea"/>
        <a:cs typeface="+mn-cs"/>
      </a:defRPr>
    </a:lvl1pPr>
    <a:lvl2pPr algn="l" defTabSz="609585" eaLnBrk="1" hangingPunct="1" latinLnBrk="0" marL="609585" rtl="0">
      <a:defRPr kern="1200" sz="2400">
        <a:solidFill>
          <a:schemeClr val="tx1"/>
        </a:solidFill>
        <a:latin typeface="+mn-lt"/>
        <a:ea typeface="+mn-ea"/>
        <a:cs typeface="+mn-cs"/>
      </a:defRPr>
    </a:lvl2pPr>
    <a:lvl3pPr algn="l" defTabSz="609585" eaLnBrk="1" hangingPunct="1" latinLnBrk="0" marL="1219170" rtl="0">
      <a:defRPr kern="1200" sz="2400">
        <a:solidFill>
          <a:schemeClr val="tx1"/>
        </a:solidFill>
        <a:latin typeface="+mn-lt"/>
        <a:ea typeface="+mn-ea"/>
        <a:cs typeface="+mn-cs"/>
      </a:defRPr>
    </a:lvl3pPr>
    <a:lvl4pPr algn="l" defTabSz="609585" eaLnBrk="1" hangingPunct="1" latinLnBrk="0" marL="1828754" rtl="0">
      <a:defRPr kern="1200" sz="2400">
        <a:solidFill>
          <a:schemeClr val="tx1"/>
        </a:solidFill>
        <a:latin typeface="+mn-lt"/>
        <a:ea typeface="+mn-ea"/>
        <a:cs typeface="+mn-cs"/>
      </a:defRPr>
    </a:lvl4pPr>
    <a:lvl5pPr algn="l" defTabSz="609585" eaLnBrk="1" hangingPunct="1" latinLnBrk="0" marL="2438339" rtl="0">
      <a:defRPr kern="1200" sz="2400">
        <a:solidFill>
          <a:schemeClr val="tx1"/>
        </a:solidFill>
        <a:latin typeface="+mn-lt"/>
        <a:ea typeface="+mn-ea"/>
        <a:cs typeface="+mn-cs"/>
      </a:defRPr>
    </a:lvl5pPr>
    <a:lvl6pPr algn="l" defTabSz="609585" eaLnBrk="1" hangingPunct="1" latinLnBrk="0" marL="3047924" rtl="0">
      <a:defRPr kern="1200" sz="2400">
        <a:solidFill>
          <a:schemeClr val="tx1"/>
        </a:solidFill>
        <a:latin typeface="+mn-lt"/>
        <a:ea typeface="+mn-ea"/>
        <a:cs typeface="+mn-cs"/>
      </a:defRPr>
    </a:lvl6pPr>
    <a:lvl7pPr algn="l" defTabSz="609585" eaLnBrk="1" hangingPunct="1" latinLnBrk="0" marL="3657509" rtl="0">
      <a:defRPr kern="1200" sz="2400">
        <a:solidFill>
          <a:schemeClr val="tx1"/>
        </a:solidFill>
        <a:latin typeface="+mn-lt"/>
        <a:ea typeface="+mn-ea"/>
        <a:cs typeface="+mn-cs"/>
      </a:defRPr>
    </a:lvl7pPr>
    <a:lvl8pPr algn="l" defTabSz="609585" eaLnBrk="1" hangingPunct="1" latinLnBrk="0" marL="4267093" rtl="0">
      <a:defRPr kern="1200" sz="2400">
        <a:solidFill>
          <a:schemeClr val="tx1"/>
        </a:solidFill>
        <a:latin typeface="+mn-lt"/>
        <a:ea typeface="+mn-ea"/>
        <a:cs typeface="+mn-cs"/>
      </a:defRPr>
    </a:lvl8pPr>
    <a:lvl9pPr algn="l" defTabSz="609585" eaLnBrk="1" hangingPunct="1" latinLnBrk="0" marL="4876678" rtl="0">
      <a:defRPr kern="1200" sz="24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A6A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6745"/>
    <p:restoredTop autoAdjust="0" sz="94678"/>
  </p:normalViewPr>
  <p:slideViewPr>
    <p:cSldViewPr snapToGrid="0" snapToObjects="1">
      <p:cViewPr varScale="1">
        <p:scale>
          <a:sx d="100" n="93"/>
          <a:sy d="100" n="93"/>
        </p:scale>
        <p:origin x="240" y="896"/>
      </p:cViewPr>
      <p:guideLst>
        <p:guide orient="horz" pos="2160"/>
        <p:guide pos="384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15" Type="http://schemas.openxmlformats.org/officeDocument/2006/relationships/tableStyles" Target="tableStyles.xml"/><Relationship Id="rId14" Type="http://schemas.openxmlformats.org/officeDocument/2006/relationships/theme" Target="theme/theme1.xml"/><Relationship Id="rId16-created" Type="http://schemas.openxmlformats.org/officeDocument/2006/relationships/slide" Target="slides/slide11.xml"/><Relationship Id="rId17-created" Type="http://schemas.openxmlformats.org/officeDocument/2006/relationships/slide" Target="slides/slide12.xml"/><Relationship Id="rId18-created" Type="http://schemas.openxmlformats.org/officeDocument/2006/relationships/slide" Target="slides/slide13.xml"/><Relationship Id="rId19-created" Type="http://schemas.openxmlformats.org/officeDocument/2006/relationships/slide" Target="slides/slide14.xml"/><Relationship Id="rId20-created" Type="http://schemas.openxmlformats.org/officeDocument/2006/relationships/slide" Target="slides/slide15.xml"/><Relationship Id="rId21-created" Type="http://schemas.openxmlformats.org/officeDocument/2006/relationships/slide" Target="slides/slide16.xml"/><Relationship Id="rId22-created" Type="http://schemas.openxmlformats.org/officeDocument/2006/relationships/slide" Target="slides/slide17.xml"/><Relationship Id="rId23-created" Type="http://schemas.openxmlformats.org/officeDocument/2006/relationships/slide" Target="slides/slide18.xml"/><Relationship Id="rId24-created" Type="http://schemas.openxmlformats.org/officeDocument/2006/relationships/slide" Target="slides/slide19.xml"/><Relationship Id="rId25-created" Type="http://schemas.openxmlformats.org/officeDocument/2006/relationships/slide" Target="slides/slide2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0800" y="2696395"/>
            <a:ext cx="10976400" cy="1774800"/>
          </a:xfrm>
        </p:spPr>
        <p:txBody>
          <a:bodyPr lIns="0" rIns="0" anchor="t" anchorCtr="0">
            <a:noAutofit/>
          </a:bodyPr>
          <a:lstStyle>
            <a:lvl1pPr algn="l">
              <a:defRPr sz="5000">
                <a:solidFill>
                  <a:srgbClr val="6A6A6A"/>
                </a:solidFill>
                <a:latin typeface="Trebuchet MS" panose="020B070302020209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0800" y="4561200"/>
            <a:ext cx="5482800" cy="684000"/>
          </a:xfrm>
        </p:spPr>
        <p:txBody>
          <a:bodyPr lIns="0" rIns="0">
            <a:noAutofit/>
          </a:bodyPr>
          <a:lstStyle>
            <a:lvl1pPr marL="0" indent="0" algn="l">
              <a:buNone/>
              <a:defRPr sz="1200">
                <a:solidFill>
                  <a:schemeClr val="tx1">
                    <a:tint val="75000"/>
                  </a:schemeClr>
                </a:solidFill>
                <a:latin typeface="Trebuchet MS" panose="020B0703020202090204" pitchFamily="34" charset="0"/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18A50E-0D77-DE77-0D1F-B15261395D9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157479" y="5826026"/>
            <a:ext cx="0" cy="0"/>
          </a:xfrm>
        </p:spPr>
        <p:txBody>
          <a:bodyPr lIns="0" tIns="0" rIns="0" bIns="0"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3A0F62-9C29-290D-4BC2-6681986E8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175A98-9670-7965-B190-10BE5F4D6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7626" y="274639"/>
            <a:ext cx="11320670" cy="709335"/>
          </a:xfrm>
        </p:spPr>
        <p:txBody>
          <a:bodyPr>
            <a:normAutofit/>
          </a:bodyPr>
          <a:lstStyle>
            <a:lvl1pPr algn="l">
              <a:defRPr sz="3800">
                <a:solidFill>
                  <a:schemeClr val="tx1"/>
                </a:solidFill>
                <a:latin typeface="Trebuchet MS" panose="020B070302020209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626" y="993176"/>
            <a:ext cx="11408134" cy="4137624"/>
          </a:xfrm>
        </p:spPr>
        <p:txBody>
          <a:bodyPr>
            <a:normAutofit/>
          </a:bodyPr>
          <a:lstStyle>
            <a:lvl1pPr>
              <a:spcBef>
                <a:spcPts val="400"/>
              </a:spcBef>
              <a:defRPr sz="3000">
                <a:solidFill>
                  <a:schemeClr val="tx1"/>
                </a:solidFill>
                <a:latin typeface="Trebuchet MS" panose="020B0703020202090204" pitchFamily="34" charset="0"/>
              </a:defRPr>
            </a:lvl1pPr>
            <a:lvl2pPr>
              <a:spcBef>
                <a:spcPts val="400"/>
              </a:spcBef>
              <a:defRPr sz="3000">
                <a:solidFill>
                  <a:schemeClr val="tx1"/>
                </a:solidFill>
                <a:latin typeface="Trebuchet MS" panose="020B0703020202090204" pitchFamily="34" charset="0"/>
              </a:defRPr>
            </a:lvl2pPr>
            <a:lvl3pPr>
              <a:spcBef>
                <a:spcPts val="400"/>
              </a:spcBef>
              <a:defRPr sz="3000">
                <a:solidFill>
                  <a:schemeClr val="tx1"/>
                </a:solidFill>
                <a:latin typeface="Trebuchet MS" panose="020B0703020202090204" pitchFamily="34" charset="0"/>
              </a:defRPr>
            </a:lvl3pPr>
            <a:lvl4pPr>
              <a:spcBef>
                <a:spcPts val="400"/>
              </a:spcBef>
              <a:defRPr sz="3000">
                <a:solidFill>
                  <a:schemeClr val="tx1"/>
                </a:solidFill>
                <a:latin typeface="Trebuchet MS" panose="020B0703020202090204" pitchFamily="34" charset="0"/>
              </a:defRPr>
            </a:lvl4pPr>
            <a:lvl5pPr>
              <a:spcBef>
                <a:spcPts val="400"/>
              </a:spcBef>
              <a:defRPr sz="3000">
                <a:solidFill>
                  <a:schemeClr val="tx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04000" y="6356351"/>
            <a:ext cx="0" cy="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41EB5C9-1307-BA42-ABA2-0BC069CD8E7F}" type="datetimeFigureOut">
              <a:rPr lang="en-US" smtClean="0"/>
              <a:pPr/>
              <a:t>5/21/25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760" y="254000"/>
            <a:ext cx="11968480" cy="4876800"/>
          </a:xfrm>
        </p:spPr>
        <p:txBody>
          <a:bodyPr anchor="ctr" anchorCtr="0">
            <a:normAutofit/>
          </a:bodyPr>
          <a:lstStyle>
            <a:lvl1pPr algn="ctr">
              <a:defRPr lang="en-US" dirty="0">
                <a:solidFill>
                  <a:schemeClr val="tx1"/>
                </a:solidFill>
                <a:latin typeface="Trebuchet MS" panose="020B070302020209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041775"/>
            <a:ext cx="10363200" cy="1500187"/>
          </a:xfrm>
        </p:spPr>
        <p:txBody>
          <a:bodyPr lIns="0" tIns="0" rIns="0" bIns="0" anchor="b"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0" cy="0"/>
          </a:xfrm>
        </p:spPr>
        <p:txBody>
          <a:bodyPr wrap="none" lIns="36000" tIns="0" rIns="36000" bIns="0"/>
          <a:lstStyle>
            <a:lvl1pPr>
              <a:defRPr sz="800">
                <a:solidFill>
                  <a:schemeClr val="tx1"/>
                </a:solidFill>
              </a:defRPr>
            </a:lvl1pPr>
          </a:lstStyle>
          <a:p>
            <a:fld id="{241EB5C9-1307-BA42-ABA2-0BC069CD8E7F}" type="datetimeFigureOut">
              <a:rPr lang="en-US" smtClean="0"/>
              <a:pPr/>
              <a:t>5/21/25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400">
                <a:solidFill>
                  <a:schemeClr val="tx1"/>
                </a:solidFill>
                <a:latin typeface="Trebuchet MS" panose="020B0703020202090204" pitchFamily="34" charset="0"/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rebuchet MS" panose="020B0703020202090204" pitchFamily="34" charset="0"/>
              </a:defRPr>
            </a:lvl1pPr>
            <a:lvl2pPr>
              <a:defRPr sz="2400">
                <a:solidFill>
                  <a:schemeClr val="tx1"/>
                </a:solidFill>
                <a:latin typeface="Trebuchet MS" panose="020B0703020202090204" pitchFamily="34" charset="0"/>
              </a:defRPr>
            </a:lvl2pPr>
            <a:lvl3pPr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3pPr>
            <a:lvl4pPr>
              <a:defRPr sz="1800">
                <a:solidFill>
                  <a:schemeClr val="tx1"/>
                </a:solidFill>
                <a:latin typeface="Trebuchet MS" panose="020B0703020202090204" pitchFamily="34" charset="0"/>
              </a:defRPr>
            </a:lvl4pPr>
            <a:lvl5pPr>
              <a:defRPr sz="1800">
                <a:solidFill>
                  <a:schemeClr val="tx1"/>
                </a:solidFill>
                <a:latin typeface="Trebuchet MS" panose="020B070302020209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41EB5C9-1307-BA42-ABA2-0BC069CD8E7F}" type="datetimeFigureOut">
              <a:rPr lang="en-US" smtClean="0"/>
              <a:pPr/>
              <a:t>5/21/25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684000"/>
          </a:xfrm>
        </p:spPr>
        <p:txBody>
          <a:bodyPr>
            <a:normAutofit/>
          </a:bodyPr>
          <a:lstStyle>
            <a:lvl1pPr algn="l">
              <a:defRPr sz="3800">
                <a:solidFill>
                  <a:schemeClr val="tx1"/>
                </a:solidFill>
                <a:latin typeface="Trebuchet MS" panose="020B070302020209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958639"/>
            <a:ext cx="5386917" cy="639763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/>
                </a:solidFill>
                <a:latin typeface="Trebuchet MS" panose="020B0703020202090204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652145"/>
            <a:ext cx="5386917" cy="4704206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rebuchet MS" panose="020B0703020202090204" pitchFamily="34" charset="0"/>
              </a:defRPr>
            </a:lvl1pPr>
            <a:lvl2pPr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2pPr>
            <a:lvl3pPr>
              <a:defRPr sz="1800">
                <a:solidFill>
                  <a:schemeClr val="tx1"/>
                </a:solidFill>
                <a:latin typeface="Trebuchet MS" panose="020B0703020202090204" pitchFamily="34" charset="0"/>
              </a:defRPr>
            </a:lvl3pPr>
            <a:lvl4pPr>
              <a:defRPr sz="1600">
                <a:solidFill>
                  <a:schemeClr val="tx1"/>
                </a:solidFill>
                <a:latin typeface="Trebuchet MS" panose="020B0703020202090204" pitchFamily="34" charset="0"/>
              </a:defRPr>
            </a:lvl4pPr>
            <a:lvl5pPr>
              <a:defRPr sz="1600">
                <a:solidFill>
                  <a:schemeClr val="tx1"/>
                </a:solidFill>
                <a:latin typeface="Trebuchet MS" panose="020B070302020209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6517" y="985510"/>
            <a:ext cx="5389033" cy="639763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/>
                </a:solidFill>
                <a:latin typeface="Trebuchet MS" panose="020B0703020202090204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6516" y="1679016"/>
            <a:ext cx="5990892" cy="4623592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rebuchet MS" panose="020B0703020202090204" pitchFamily="34" charset="0"/>
              </a:defRPr>
            </a:lvl1pPr>
            <a:lvl2pPr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2pPr>
            <a:lvl3pPr>
              <a:defRPr sz="1800">
                <a:solidFill>
                  <a:schemeClr val="tx1"/>
                </a:solidFill>
                <a:latin typeface="Trebuchet MS" panose="020B0703020202090204" pitchFamily="34" charset="0"/>
              </a:defRPr>
            </a:lvl3pPr>
            <a:lvl4pPr>
              <a:defRPr sz="1600">
                <a:solidFill>
                  <a:schemeClr val="tx1"/>
                </a:solidFill>
                <a:latin typeface="Trebuchet MS" panose="020B0703020202090204" pitchFamily="34" charset="0"/>
              </a:defRPr>
            </a:lvl4pPr>
            <a:lvl5pPr>
              <a:defRPr sz="1600">
                <a:solidFill>
                  <a:schemeClr val="tx1"/>
                </a:solidFill>
                <a:latin typeface="Trebuchet MS" panose="020B070302020209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41EB5C9-1307-BA42-ABA2-0BC069CD8E7F}" type="datetimeFigureOut">
              <a:rPr lang="en-US" smtClean="0"/>
              <a:pPr/>
              <a:t>5/21/25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1016000" cy="684000"/>
          </a:xfrm>
        </p:spPr>
        <p:txBody>
          <a:bodyPr>
            <a:normAutofit/>
          </a:bodyPr>
          <a:lstStyle>
            <a:lvl1pPr algn="l">
              <a:defRPr sz="3800">
                <a:solidFill>
                  <a:schemeClr val="tx1"/>
                </a:solidFill>
                <a:latin typeface="Trebuchet MS" panose="020B070302020209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41EB5C9-1307-BA42-ABA2-0BC069CD8E7F}" type="datetimeFigureOut">
              <a:rPr lang="en-US" smtClean="0"/>
              <a:pPr/>
              <a:t>5/21/25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5/21/25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10972800" cy="684000"/>
          </a:xfrm>
        </p:spPr>
        <p:txBody>
          <a:bodyPr anchor="b">
            <a:normAutofit/>
          </a:bodyPr>
          <a:lstStyle>
            <a:lvl1pPr algn="l">
              <a:defRPr sz="3800" b="0">
                <a:solidFill>
                  <a:schemeClr val="tx1"/>
                </a:solidFill>
                <a:latin typeface="Trebuchet MS" panose="020B070302020209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18566" y="964183"/>
            <a:ext cx="7406420" cy="3620344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Trebuchet MS" panose="020B0703020202090204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Trebuchet MS" panose="020B0703020202090204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rebuchet MS" panose="020B0703020202090204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964182"/>
            <a:ext cx="4011084" cy="5392169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tx1"/>
                </a:solidFill>
                <a:latin typeface="Trebuchet MS" panose="020B0703020202090204" pitchFamily="34" charset="0"/>
              </a:defRPr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41EB5C9-1307-BA42-ABA2-0BC069CD8E7F}" type="datetimeFigureOut">
              <a:rPr lang="en-US" smtClean="0"/>
              <a:pPr/>
              <a:t>5/21/25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5/21/25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189" eaLnBrk="1" hangingPunct="1" latinLnBrk="0" rtl="0"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457189" eaLnBrk="1" hangingPunct="1" indent="-457189" latinLnBrk="0" marL="457189" rtl="0">
        <a:spcBef>
          <a:spcPct val="20000"/>
        </a:spcBef>
        <a:buFont typeface="Arial"/>
        <a:buChar char="•"/>
        <a:defRPr kern="1200" sz="3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189" eaLnBrk="1" hangingPunct="1" indent="-457189" latinLnBrk="0" marL="914377" rtl="0">
        <a:spcBef>
          <a:spcPct val="20000"/>
        </a:spcBef>
        <a:buFont typeface="Arial"/>
        <a:buChar char="–"/>
        <a:defRPr kern="1200" sz="28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189" eaLnBrk="1" hangingPunct="1" indent="-457189" latinLnBrk="0" marL="1371566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189" eaLnBrk="1" hangingPunct="1" indent="-457189" latinLnBrk="0" marL="1828754" rtl="0">
        <a:spcBef>
          <a:spcPct val="2000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189" eaLnBrk="1" hangingPunct="1" indent="-457189" latinLnBrk="0" marL="2285943" rtl="0">
        <a:spcBef>
          <a:spcPct val="20000"/>
        </a:spcBef>
        <a:buFont typeface="Arial"/>
        <a:buChar char="»"/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189" eaLnBrk="1" hangingPunct="1" indent="-457189" latinLnBrk="0" marL="2743131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189" eaLnBrk="1" hangingPunct="1" indent="-457189" latinLnBrk="0" marL="320032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189" eaLnBrk="1" hangingPunct="1" indent="-457189" latinLnBrk="0" marL="3657509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189" eaLnBrk="1" hangingPunct="1" indent="-457189" latinLnBrk="0" marL="4114697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457189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189" eaLnBrk="1" hangingPunct="1" latinLnBrk="0" marL="457189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189" eaLnBrk="1" hangingPunct="1" latinLnBrk="0" marL="914377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189" eaLnBrk="1" hangingPunct="1" latinLnBrk="0" marL="1371566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189" eaLnBrk="1" hangingPunct="1" latinLnBrk="0" marL="1828754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189" eaLnBrk="1" hangingPunct="1" latinLnBrk="0" marL="2285943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189" eaLnBrk="1" hangingPunct="1" latinLnBrk="0" marL="2743131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189" eaLnBrk="1" hangingPunct="1" latinLnBrk="0" marL="320032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189" eaLnBrk="1" hangingPunct="1" latinLnBrk="0" marL="3657509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0800" y="2696395"/>
            <a:ext cx="10976400" cy="1774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File Summary Request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820800" y="4561200"/>
            <a:ext cx="5482800" cy="684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Thu May 29 2025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18A50E-0D77-DE77-0D1F-B15261395D9B}"/>
              </a:ext>
            </a:extLst>
          </p:cNvPr>
          <p:cNvSpPr>
            <a:spLocks noGrp="1"/>
          </p:cNvSpPr>
          <p:nvPr>
            <p:ph idx="10" sz="half" type="dt"/>
          </p:nvPr>
        </p:nvSpPr>
        <p:spPr>
          <a:xfrm flipH="1">
            <a:off x="157479" y="5826026"/>
            <a:ext cx="0" cy="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Thu May 29 2025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760" y="254000"/>
            <a:ext cx="11968480" cy="4876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P&lt;{{{0}}}&gt;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7626" y="274639"/>
            <a:ext cx="11320670" cy="709335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Prompt #1: Write summary of the files in 2…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Unfortunately, I wasn’t able to find sufficient information to assist with that question.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760" y="254000"/>
            <a:ext cx="11968480" cy="4876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P&lt;{{{1}}}&gt;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7626" y="274639"/>
            <a:ext cx="11320670" cy="709335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Prompt #2 (1/6): Write inline citation of 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Here is a summary of the files in 20 lines with inline citations:</a:t>
            </a:r>
          </a:p>
          <a:p>
            <a:pPr lvl="0" indent="-457189" marL="457189">
              <a:buAutoNum type="arabicPeriod"/>
            </a:pPr>
            <a:r>
              <a:rPr/>
              <a:t>The files contain information about various sources, including the Organization for Security and Cooperation in Europe .</a:t>
            </a:r>
          </a:p>
          <a:p>
            <a:pPr lvl="0" indent="-457189" marL="457189">
              <a:buAutoNum type="arabicPeriod"/>
            </a:pPr>
            <a:r>
              <a:rPr/>
              <a:t>There are also references to Sound Recordings and Manuscripts .</a:t>
            </a:r>
          </a:p>
          <a:p>
            <a:pPr lvl="0" indent="-457189" marL="457189">
              <a:buAutoNum type="arabicPeriod"/>
            </a:pPr>
            <a:r>
              <a:rPr/>
              <a:t>The files mention Women, White and World Trade Organization 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7626" y="274639"/>
            <a:ext cx="11320670" cy="709335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Prompt #2 (2/6): Write inline citation of 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189" marL="457189">
              <a:buAutoNum startAt="4" type="arabicPeriod"/>
            </a:pPr>
            <a:r>
              <a:rPr/>
              <a:t>Education and Kentucky are also mentioned.</a:t>
            </a:r>
          </a:p>
          <a:p>
            <a:pPr lvl="0" indent="-457189" marL="457189">
              <a:buAutoNum startAt="4" type="arabicPeriod"/>
            </a:pPr>
            <a:r>
              <a:rPr/>
              <a:t>The files contain a list of source IDs, including 1, 2, 3, 4, 5, 6, 7, 8, and 9.</a:t>
            </a:r>
          </a:p>
          <a:p>
            <a:pPr lvl="0" indent="-457189" marL="457189">
              <a:buAutoNum startAt="4" type="arabicPeriod"/>
            </a:pPr>
            <a:r>
              <a:rPr/>
              <a:t>Source ID 1 contains information about Organization for Security and Cooperation in Europe .</a:t>
            </a:r>
          </a:p>
          <a:p>
            <a:pPr lvl="0" indent="-457189" marL="457189">
              <a:buAutoNum startAt="4" type="arabicPeriod"/>
            </a:pPr>
            <a:r>
              <a:rPr/>
              <a:t>Source ID 2 mentions Sound Recordings and Manuscripts 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7626" y="274639"/>
            <a:ext cx="11320670" cy="709335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Prompt #2 (3/6): Write inline citation of 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189" marL="457189">
              <a:buAutoNum startAt="8" type="arabicPeriod"/>
            </a:pPr>
            <a:r>
              <a:rPr/>
              <a:t>Source ID 3 contains a reference to Women, White .</a:t>
            </a:r>
          </a:p>
          <a:p>
            <a:pPr lvl="0" indent="-457189" marL="457189">
              <a:buAutoNum startAt="8" type="arabicPeriod"/>
            </a:pPr>
            <a:r>
              <a:rPr/>
              <a:t>Source ID 4 mentions World Trade Organization and Education .</a:t>
            </a:r>
          </a:p>
          <a:p>
            <a:pPr lvl="0" indent="-457189" marL="457189">
              <a:buAutoNum startAt="8" type="arabicPeriod"/>
            </a:pPr>
            <a:r>
              <a:rPr/>
              <a:t>Source ID 5 contains information about Kentucky .</a:t>
            </a:r>
          </a:p>
          <a:p>
            <a:pPr lvl="0" indent="-457189" marL="457189">
              <a:buAutoNum startAt="8" type="arabicPeriod"/>
            </a:pPr>
            <a:r>
              <a:rPr/>
              <a:t>Source ID 6 contains a list of external links.</a:t>
            </a:r>
          </a:p>
          <a:p>
            <a:pPr lvl="0" indent="-457189" marL="457189">
              <a:buAutoNum startAt="8" type="arabicPeriod"/>
            </a:pPr>
            <a:r>
              <a:rPr/>
              <a:t>Source ID 7 contains a reference to The World Factbook 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7626" y="274639"/>
            <a:ext cx="11320670" cy="709335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Prompt #2 (4/6): Write inline citation of 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189" marL="457189">
              <a:buAutoNum startAt="13" type="arabicPeriod"/>
            </a:pPr>
            <a:r>
              <a:rPr/>
              <a:t>Source ID 8 contains a list of external links, including University of Colorado .</a:t>
            </a:r>
          </a:p>
          <a:p>
            <a:pPr lvl="0" indent="-457189" marL="457189">
              <a:buAutoNum startAt="13" type="arabicPeriod"/>
            </a:pPr>
            <a:r>
              <a:rPr/>
              <a:t>Source ID 9 contains a reference to The Life and Voyages of Americus Vespucius .</a:t>
            </a:r>
          </a:p>
          <a:p>
            <a:pPr lvl="0" indent="-457189" marL="457189">
              <a:buAutoNum startAt="13" type="arabicPeriod"/>
            </a:pPr>
            <a:r>
              <a:rPr/>
              <a:t>The files also contain a section on Bibliography, which includes references to various books and articles.</a:t>
            </a:r>
          </a:p>
          <a:p>
            <a:pPr lvl="0" indent="-457189" marL="457189">
              <a:buAutoNum startAt="13" type="arabicPeriod"/>
            </a:pPr>
            <a:r>
              <a:rPr/>
              <a:t>The Bibliography section includes a reference to The Toponymy of the Falkland Islands as recorded on Maps and in Gazetteers 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7626" y="274639"/>
            <a:ext cx="11320670" cy="709335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Prompt #2 (5/6): Write inline citation of 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189" marL="457189">
              <a:buAutoNum startAt="17" type="arabicPeriod"/>
            </a:pPr>
            <a:r>
              <a:rPr/>
              <a:t>The files also contain a section on External links, which includes references to various websites.</a:t>
            </a:r>
          </a:p>
          <a:p>
            <a:pPr lvl="0" indent="-457189" marL="457189">
              <a:buAutoNum startAt="17" type="arabicPeriod"/>
            </a:pPr>
            <a:r>
              <a:rPr/>
              <a:t>The External links section includes a reference to University of Colorado from UCB Libraries GovPubs .</a:t>
            </a:r>
          </a:p>
          <a:p>
            <a:pPr lvl="0" indent="-457189" marL="457189">
              <a:buAutoNum startAt="17" type="arabicPeriod"/>
            </a:pPr>
            <a:r>
              <a:rPr/>
              <a:t>The files contain a section on Quote by @%username% on %date%, which includes a reference to a quote.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7626" y="274639"/>
            <a:ext cx="11320670" cy="709335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Prompt #2 (6/6): Write inline citation of 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189" marL="457189">
              <a:buAutoNum startAt="20" type="arabicPeriod"/>
            </a:pPr>
            <a:r>
              <a:rPr/>
              <a:t>Unfortunately, I wasn’t able to find sufficient information to assist with the quote section.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0800" y="2696395"/>
            <a:ext cx="10976400" cy="1774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File Summary Request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820800" y="4561200"/>
            <a:ext cx="5482800" cy="684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Thu May 29 2025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18A50E-0D77-DE77-0D1F-B15261395D9B}"/>
              </a:ext>
            </a:extLst>
          </p:cNvPr>
          <p:cNvSpPr>
            <a:spLocks noGrp="1"/>
          </p:cNvSpPr>
          <p:nvPr>
            <p:ph idx="10" sz="half" type="dt"/>
          </p:nvPr>
        </p:nvSpPr>
        <p:spPr>
          <a:xfrm flipH="1">
            <a:off x="157479" y="5826026"/>
            <a:ext cx="0" cy="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Thu May 29 2025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760" y="254000"/>
            <a:ext cx="11968480" cy="4876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Prompt #1: Write summary of the files
in 20 line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7626" y="274639"/>
            <a:ext cx="11320670" cy="709335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Prompt #1: Write summary of the files in 2…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Unfortunately, I wasn’t able to find sufficient information to assist with that question.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760" y="254000"/>
            <a:ext cx="11968480" cy="4876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Prompt #2: Write inline citation of the
files in 20 line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7626" y="274639"/>
            <a:ext cx="11320670" cy="709335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Prompt #2 (1/6): Write inline citation of 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Here is a summary of the files in 20 lines with inline citations:</a:t>
            </a:r>
          </a:p>
          <a:p>
            <a:pPr lvl="0" indent="-457189" marL="457189">
              <a:buAutoNum type="arabicPeriod"/>
            </a:pPr>
            <a:r>
              <a:rPr/>
              <a:t>The files contain information about various sources, including the Organization for Security and Cooperation in Europe .</a:t>
            </a:r>
          </a:p>
          <a:p>
            <a:pPr lvl="0" indent="-457189" marL="457189">
              <a:buAutoNum type="arabicPeriod"/>
            </a:pPr>
            <a:r>
              <a:rPr/>
              <a:t>There are also references to Sound Recordings and Manuscripts .</a:t>
            </a:r>
          </a:p>
          <a:p>
            <a:pPr lvl="0" indent="-457189" marL="457189">
              <a:buAutoNum type="arabicPeriod"/>
            </a:pPr>
            <a:r>
              <a:rPr/>
              <a:t>The files mention Women, White and World Trade Organization 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7626" y="274639"/>
            <a:ext cx="11320670" cy="709335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Prompt #2 (2/6): Write inline citation of 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189" marL="457189">
              <a:buAutoNum startAt="4" type="arabicPeriod"/>
            </a:pPr>
            <a:r>
              <a:rPr/>
              <a:t>Education and Kentucky are also mentioned.</a:t>
            </a:r>
          </a:p>
          <a:p>
            <a:pPr lvl="0" indent="-457189" marL="457189">
              <a:buAutoNum startAt="4" type="arabicPeriod"/>
            </a:pPr>
            <a:r>
              <a:rPr/>
              <a:t>The files contain a list of source IDs, including 1, 2, 3, 4, 5, 6, 7, 8, and 9.</a:t>
            </a:r>
          </a:p>
          <a:p>
            <a:pPr lvl="0" indent="-457189" marL="457189">
              <a:buAutoNum startAt="4" type="arabicPeriod"/>
            </a:pPr>
            <a:r>
              <a:rPr/>
              <a:t>Source ID 1 contains information about Organization for Security and Cooperation in Europe .</a:t>
            </a:r>
          </a:p>
          <a:p>
            <a:pPr lvl="0" indent="-457189" marL="457189">
              <a:buAutoNum startAt="4" type="arabicPeriod"/>
            </a:pPr>
            <a:r>
              <a:rPr/>
              <a:t>Source ID 2 mentions Sound Recordings and Manuscripts 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7626" y="274639"/>
            <a:ext cx="11320670" cy="709335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Prompt #2 (3/6): Write inline citation of 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189" marL="457189">
              <a:buAutoNum startAt="8" type="arabicPeriod"/>
            </a:pPr>
            <a:r>
              <a:rPr/>
              <a:t>Source ID 3 contains a reference to Women, White .</a:t>
            </a:r>
          </a:p>
          <a:p>
            <a:pPr lvl="0" indent="-457189" marL="457189">
              <a:buAutoNum startAt="8" type="arabicPeriod"/>
            </a:pPr>
            <a:r>
              <a:rPr/>
              <a:t>Source ID 4 mentions World Trade Organization and Education .</a:t>
            </a:r>
          </a:p>
          <a:p>
            <a:pPr lvl="0" indent="-457189" marL="457189">
              <a:buAutoNum startAt="8" type="arabicPeriod"/>
            </a:pPr>
            <a:r>
              <a:rPr/>
              <a:t>Source ID 5 contains information about Kentucky .</a:t>
            </a:r>
          </a:p>
          <a:p>
            <a:pPr lvl="0" indent="-457189" marL="457189">
              <a:buAutoNum startAt="8" type="arabicPeriod"/>
            </a:pPr>
            <a:r>
              <a:rPr/>
              <a:t>Source ID 6 contains a list of external links.</a:t>
            </a:r>
          </a:p>
          <a:p>
            <a:pPr lvl="0" indent="-457189" marL="457189">
              <a:buAutoNum startAt="8" type="arabicPeriod"/>
            </a:pPr>
            <a:r>
              <a:rPr/>
              <a:t>Source ID 7 contains a reference to The World Factbook 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7626" y="274639"/>
            <a:ext cx="11320670" cy="709335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Prompt #2 (4/6): Write inline citation of 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189" marL="457189">
              <a:buAutoNum startAt="13" type="arabicPeriod"/>
            </a:pPr>
            <a:r>
              <a:rPr/>
              <a:t>Source ID 8 contains a list of external links, including University of Colorado .</a:t>
            </a:r>
          </a:p>
          <a:p>
            <a:pPr lvl="0" indent="-457189" marL="457189">
              <a:buAutoNum startAt="13" type="arabicPeriod"/>
            </a:pPr>
            <a:r>
              <a:rPr/>
              <a:t>Source ID 9 contains a reference to The Life and Voyages of Americus Vespucius .</a:t>
            </a:r>
          </a:p>
          <a:p>
            <a:pPr lvl="0" indent="-457189" marL="457189">
              <a:buAutoNum startAt="13" type="arabicPeriod"/>
            </a:pPr>
            <a:r>
              <a:rPr/>
              <a:t>The files also contain a section on Bibliography, which includes references to various books and articles.</a:t>
            </a:r>
          </a:p>
          <a:p>
            <a:pPr lvl="0" indent="-457189" marL="457189">
              <a:buAutoNum startAt="13" type="arabicPeriod"/>
            </a:pPr>
            <a:r>
              <a:rPr/>
              <a:t>The Bibliography section includes a reference to The Toponymy of the Falkland Islands as recorded on Maps and in Gazetteers 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7626" y="274639"/>
            <a:ext cx="11320670" cy="709335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Prompt #2 (5/6): Write inline citation of 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189" marL="457189">
              <a:buAutoNum startAt="17" type="arabicPeriod"/>
            </a:pPr>
            <a:r>
              <a:rPr/>
              <a:t>The files also contain a section on External links, which includes references to various websites.</a:t>
            </a:r>
          </a:p>
          <a:p>
            <a:pPr lvl="0" indent="-457189" marL="457189">
              <a:buAutoNum startAt="17" type="arabicPeriod"/>
            </a:pPr>
            <a:r>
              <a:rPr/>
              <a:t>The External links section includes a reference to University of Colorado from UCB Libraries GovPubs .</a:t>
            </a:r>
          </a:p>
          <a:p>
            <a:pPr lvl="0" indent="-457189" marL="457189">
              <a:buAutoNum startAt="17" type="arabicPeriod"/>
            </a:pPr>
            <a:r>
              <a:rPr/>
              <a:t>The files contain a section on Quote by @%username% on %date%, which includes a reference to a quote.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7626" y="274639"/>
            <a:ext cx="11320670" cy="709335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Prompt #2 (6/6): Write inline citation of 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189" marL="457189">
              <a:buAutoNum startAt="20" type="arabicPeriod"/>
            </a:pPr>
            <a:r>
              <a:rPr/>
              <a:t>Unfortunately, I wasn’t able to find sufficient information to assist with the quote section.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46</Words>
  <Application>Microsoft Macintosh PowerPoint</Application>
  <PresentationFormat>Widescreen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Trebuchet MS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File Summary Request</dc:title>
  <dc:creator>Thu May 29 2025</dc:creator>
  <cp:keywords/>
  <dcterms:created xsi:type="dcterms:W3CDTF">2025-05-29T09:12:14Z</dcterms:created>
  <dcterms:modified xsi:type="dcterms:W3CDTF">2025-05-29T09:12:14Z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Thu May 29 2025</vt:lpwstr>
  </property>
</Properties>
</file>